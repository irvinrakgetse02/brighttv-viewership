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713-4855-8BDD-5FF671A74DB0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713-4855-8BDD-5FF671A74DB0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713-4855-8BDD-5FF671A74DB0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713-4855-8BDD-5FF671A74DB0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713-4855-8BDD-5FF671A74DB0}"/>
              </c:ext>
            </c:extLst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713-4855-8BDD-5FF671A74DB0}"/>
              </c:ext>
            </c:extLst>
          </c:dPt>
          <c:dPt>
            <c:idx val="6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713-4855-8BDD-5FF671A74DB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1073</c:v>
                </c:pt>
                <c:pt idx="1">
                  <c:v>769</c:v>
                </c:pt>
                <c:pt idx="2">
                  <c:v>1031</c:v>
                </c:pt>
                <c:pt idx="3">
                  <c:v>1197</c:v>
                </c:pt>
                <c:pt idx="4">
                  <c:v>1123</c:v>
                </c:pt>
                <c:pt idx="5">
                  <c:v>1236</c:v>
                </c:pt>
                <c:pt idx="6">
                  <c:v>1219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713-4855-8BDD-5FF671A74D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1F6-42FB-ACBC-D6000772BA64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1F6-42FB-ACBC-D6000772BA64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1F6-42FB-ACBC-D6000772BA64}"/>
              </c:ext>
            </c:extLst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1F6-42FB-ACBC-D6000772BA64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1F6-42FB-ACBC-D6000772BA64}"/>
              </c:ext>
            </c:extLst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1F6-42FB-ACBC-D6000772BA64}"/>
              </c:ext>
            </c:extLst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1F6-42FB-ACBC-D6000772BA64}"/>
              </c:ext>
            </c:extLst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1F6-42FB-ACBC-D6000772BA64}"/>
              </c:ext>
            </c:extLst>
          </c:dPt>
          <c:dPt>
            <c:idx val="8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1F6-42FB-ACBC-D6000772BA64}"/>
              </c:ext>
            </c:extLst>
          </c:dPt>
          <c:dPt>
            <c:idx val="9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1F6-42FB-ACBC-D6000772BA64}"/>
              </c:ext>
            </c:extLst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1607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C1F6-42FB-ACBC-D6000772BA64}"/>
                </c:ext>
              </c:extLst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770</a:t>
                    </a:r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C1F6-42FB-ACBC-D6000772BA64}"/>
                </c:ext>
              </c:extLst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smtClean="0"/>
                      <a:t>448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C1F6-42FB-ACBC-D6000772BA64}"/>
                </c:ext>
              </c:extLst>
            </c:dLbl>
            <c:dLbl>
              <c:idx val="3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391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C1F6-42FB-ACBC-D6000772BA64}"/>
                </c:ext>
              </c:extLst>
            </c:dLbl>
            <c:dLbl>
              <c:idx val="4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342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C1F6-42FB-ACBC-D6000772BA64}"/>
                </c:ext>
              </c:extLst>
            </c:dLbl>
            <c:dLbl>
              <c:idx val="5"/>
              <c:layout/>
              <c:tx>
                <c:rich>
                  <a:bodyPr/>
                  <a:lstStyle/>
                  <a:p>
                    <a:r>
                      <a:rPr lang="en-US" smtClean="0"/>
                      <a:t>271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C1F6-42FB-ACBC-D6000772BA6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KwaZulu-Natal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North West</c:v>
                </c:pt>
                <c:pt idx="7">
                  <c:v>Free State</c:v>
                </c:pt>
                <c:pt idx="8">
                  <c:v>Northern Cape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1607</c:v>
                </c:pt>
                <c:pt idx="1">
                  <c:v>770</c:v>
                </c:pt>
                <c:pt idx="2">
                  <c:v>448</c:v>
                </c:pt>
                <c:pt idx="3">
                  <c:v>391</c:v>
                </c:pt>
                <c:pt idx="4">
                  <c:v>342</c:v>
                </c:pt>
                <c:pt idx="5">
                  <c:v>271</c:v>
                </c:pt>
                <c:pt idx="6">
                  <c:v>152</c:v>
                </c:pt>
                <c:pt idx="7">
                  <c:v>147</c:v>
                </c:pt>
                <c:pt idx="8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1F6-42FB-ACBC-D6000772BA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D1D-489F-B24D-3B7585910BA7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1D-489F-B24D-3B7585910BA7}"/>
              </c:ext>
            </c:extLst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1D-489F-B24D-3B7585910BA7}"/>
              </c:ext>
            </c:extLst>
          </c:dPt>
          <c:dPt>
            <c:idx val="3"/>
            <c:invertIfNegative val="0"/>
            <c:bubble3D val="0"/>
            <c:spPr>
              <a:solidFill>
                <a:srgbClr val="6D28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D1D-489F-B24D-3B7585910BA7}"/>
              </c:ext>
            </c:extLst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D1D-489F-B24D-3B7585910BA7}"/>
              </c:ext>
            </c:extLst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D1D-489F-B24D-3B7585910BA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Youth Adult</c:v>
                </c:pt>
                <c:pt idx="1">
                  <c:v>Mid Age</c:v>
                </c:pt>
                <c:pt idx="2">
                  <c:v>Teen</c:v>
                </c:pt>
                <c:pt idx="3">
                  <c:v>Senior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2424</c:v>
                </c:pt>
                <c:pt idx="1">
                  <c:v>1474</c:v>
                </c:pt>
                <c:pt idx="2">
                  <c:v>377</c:v>
                </c:pt>
                <c:pt idx="3">
                  <c:v>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D1D-489F-B24D-3B7585910B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BFF-4AED-956F-9337B84836DF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BFF-4AED-956F-9337B84836DF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BFF-4AED-956F-9337B84836DF}"/>
              </c:ext>
            </c:extLst>
          </c:dPt>
          <c:dPt>
            <c:idx val="3"/>
            <c:invertIfNegative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BFF-4AED-956F-9337B84836D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Supersport Live Events</c:v>
                </c:pt>
                <c:pt idx="1">
                  <c:v>ICC Cricket World Cup 2011</c:v>
                </c:pt>
                <c:pt idx="2">
                  <c:v>Channel O</c:v>
                </c:pt>
                <c:pt idx="3">
                  <c:v>SuperSport Blitz</c:v>
                </c:pt>
                <c:pt idx="4">
                  <c:v>Trace TV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1186</c:v>
                </c:pt>
                <c:pt idx="1">
                  <c:v>1054</c:v>
                </c:pt>
                <c:pt idx="2">
                  <c:v>739</c:v>
                </c:pt>
                <c:pt idx="3">
                  <c:v>731</c:v>
                </c:pt>
                <c:pt idx="4">
                  <c:v>724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BFF-4AED-956F-9337B84836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Black</c:v>
                </c:pt>
                <c:pt idx="1">
                  <c:v>Coloured</c:v>
                </c:pt>
                <c:pt idx="2">
                  <c:v>White</c:v>
                </c:pt>
                <c:pt idx="3">
                  <c:v>Indian/Asian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250</c:v>
                </c:pt>
                <c:pt idx="1">
                  <c:v>63</c:v>
                </c:pt>
                <c:pt idx="2">
                  <c:v>73</c:v>
                </c:pt>
                <c:pt idx="3">
                  <c:v>47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0D-4521-97F0-C03C854C17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Black</c:v>
                </c:pt>
                <c:pt idx="1">
                  <c:v>Coloured</c:v>
                </c:pt>
                <c:pt idx="2">
                  <c:v>White</c:v>
                </c:pt>
                <c:pt idx="3">
                  <c:v>Indian/Asian</c:v>
                </c:pt>
                <c:pt idx="4">
                  <c:v>Other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1412</c:v>
                </c:pt>
                <c:pt idx="1">
                  <c:v>590</c:v>
                </c:pt>
                <c:pt idx="2">
                  <c:v>653</c:v>
                </c:pt>
                <c:pt idx="3">
                  <c:v>708</c:v>
                </c:pt>
                <c:pt idx="4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0D-4521-97F0-C03C854C17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1100">
              <a:solidFill>
                <a:srgbClr val="0D1B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648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4B8A6"/>
                </a:solidFill>
              </a:rPr>
              <a:t>BRIGHTTV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Viewership Insights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4B8A6"/>
                </a:solidFill>
              </a:rPr>
              <a:t>&amp; Growth Strategy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3154680"/>
            <a:ext cx="32004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Presented by: </a:t>
            </a:r>
            <a:r>
              <a:rPr lang="en-US" sz="1300" b="1" dirty="0" err="1" smtClean="0">
                <a:solidFill>
                  <a:srgbClr val="FFFFFF"/>
                </a:solidFill>
              </a:rPr>
              <a:t>Phooko</a:t>
            </a:r>
            <a:r>
              <a:rPr lang="en-US" sz="1300" b="1" dirty="0" smtClean="0">
                <a:solidFill>
                  <a:srgbClr val="FFFFFF"/>
                </a:solidFill>
              </a:rPr>
              <a:t> Irvin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611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BrightTV Customer Value Management  |  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27432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0" y="822960"/>
            <a:ext cx="2011680" cy="2011680"/>
          </a:xfrm>
          <a:prstGeom prst="ellipse">
            <a:avLst/>
          </a:prstGeom>
          <a:solidFill>
            <a:srgbClr val="14B8A6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📺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20-Minute Executive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</a:rPr>
              <a:t>AGENDA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0292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896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User &amp; Usage Trends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Overview of BrightTV's current viewer base and behaviour patterns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27632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27632"/>
            <a:ext cx="50292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2763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7007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Factors Influencing Consumption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97510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Demographics, geography, timing, and content preferences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32304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32304"/>
            <a:ext cx="50292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43230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5054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Low Consumption Days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77977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Content strategy recommendations to boost Monday viewership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36976"/>
            <a:ext cx="50292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236976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310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Growth Initiatives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58444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Targeted recommendations to grow BrightTV's subscriber base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41648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041648"/>
            <a:ext cx="50292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04164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Recommendations &amp; Next Steps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3891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Summary of key insights and priority actions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01  USER &amp; USAGE TRENDS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01168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4,386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Total Unique Viewers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914400"/>
            <a:ext cx="2011680" cy="91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Gauteng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Top Province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14400"/>
            <a:ext cx="201168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Youth </a:t>
            </a:r>
            <a:r>
              <a:rPr lang="en-US" sz="2200" b="1" dirty="0" smtClean="0">
                <a:solidFill>
                  <a:srgbClr val="F59E0B"/>
                </a:solidFill>
              </a:rPr>
              <a:t>(</a:t>
            </a:r>
            <a:r>
              <a:rPr lang="en-US" sz="2200" b="1" dirty="0" smtClean="0">
                <a:solidFill>
                  <a:srgbClr val="F59E0B"/>
                </a:solidFill>
              </a:rPr>
              <a:t>20</a:t>
            </a:r>
            <a:r>
              <a:rPr lang="en-US" sz="2200" b="1" dirty="0" smtClean="0">
                <a:solidFill>
                  <a:srgbClr val="F59E0B"/>
                </a:solidFill>
              </a:rPr>
              <a:t>–35)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Largest Age Group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91440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914400"/>
            <a:ext cx="2011680" cy="914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28D9"/>
                </a:solidFill>
              </a:rPr>
              <a:t>Friday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Peak Viewing Day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2468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Daily Viewership Pattern</a:t>
            </a:r>
            <a:endParaRPr lang="en-US" sz="13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274320" y="2788920"/>
          <a:ext cx="85953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02  FACTORS INFLUENCING CONSUMPTION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Viewership by Province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Gauteng dominates with </a:t>
            </a:r>
            <a:r>
              <a:rPr lang="en-US" sz="1000" i="1" dirty="0" smtClean="0">
                <a:solidFill>
                  <a:srgbClr val="64748B"/>
                </a:solidFill>
              </a:rPr>
              <a:t>37% </a:t>
            </a:r>
            <a:r>
              <a:rPr lang="en-US" sz="1000" i="1" dirty="0">
                <a:solidFill>
                  <a:srgbClr val="64748B"/>
                </a:solidFill>
              </a:rPr>
              <a:t>of total viewership — nearly double the next province (Western Cape at </a:t>
            </a:r>
            <a:r>
              <a:rPr lang="en-US" sz="1000" i="1" dirty="0" smtClean="0">
                <a:solidFill>
                  <a:srgbClr val="64748B"/>
                </a:solidFill>
              </a:rPr>
              <a:t>18%)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4171818486"/>
              </p:ext>
            </p:extLst>
          </p:nvPr>
        </p:nvGraphicFramePr>
        <p:xfrm>
          <a:off x="121920" y="1417320"/>
          <a:ext cx="85953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02  FACTORS INFLUENCING CONSUMPTION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Viewership by Age Group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 smtClean="0">
                <a:solidFill>
                  <a:srgbClr val="64748B"/>
                </a:solidFill>
              </a:rPr>
              <a:t>Youth Adult (</a:t>
            </a:r>
            <a:r>
              <a:rPr lang="en-US" sz="1000" i="1" dirty="0" smtClean="0">
                <a:solidFill>
                  <a:srgbClr val="64748B"/>
                </a:solidFill>
              </a:rPr>
              <a:t>20</a:t>
            </a:r>
            <a:r>
              <a:rPr lang="en-US" sz="1000" i="1" dirty="0" smtClean="0">
                <a:solidFill>
                  <a:srgbClr val="64748B"/>
                </a:solidFill>
              </a:rPr>
              <a:t>–35) </a:t>
            </a:r>
            <a:r>
              <a:rPr lang="en-US" sz="1000" i="1" dirty="0">
                <a:solidFill>
                  <a:srgbClr val="64748B"/>
                </a:solidFill>
              </a:rPr>
              <a:t>leads with </a:t>
            </a:r>
            <a:r>
              <a:rPr lang="en-US" sz="1000" i="1" dirty="0" smtClean="0">
                <a:solidFill>
                  <a:srgbClr val="64748B"/>
                </a:solidFill>
              </a:rPr>
              <a:t>2,424 </a:t>
            </a:r>
            <a:r>
              <a:rPr lang="en-US" sz="1000" i="1" dirty="0">
                <a:solidFill>
                  <a:srgbClr val="64748B"/>
                </a:solidFill>
              </a:rPr>
              <a:t>viewers — </a:t>
            </a:r>
            <a:r>
              <a:rPr lang="en-US" sz="1000" i="1" dirty="0" smtClean="0">
                <a:solidFill>
                  <a:srgbClr val="64748B"/>
                </a:solidFill>
              </a:rPr>
              <a:t>55% </a:t>
            </a:r>
            <a:r>
              <a:rPr lang="en-US" sz="1000" i="1" dirty="0">
                <a:solidFill>
                  <a:srgbClr val="64748B"/>
                </a:solidFill>
              </a:rPr>
              <a:t>of total viewership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804677703"/>
              </p:ext>
            </p:extLst>
          </p:nvPr>
        </p:nvGraphicFramePr>
        <p:xfrm>
          <a:off x="274320" y="141732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1417320"/>
            <a:ext cx="3108960" cy="28163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6"/>
          <p:cNvSpPr/>
          <p:nvPr/>
        </p:nvSpPr>
        <p:spPr>
          <a:xfrm>
            <a:off x="585216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4B8A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1965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14B8A6"/>
                </a:solidFill>
              </a:rPr>
              <a:t>55%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Youth </a:t>
            </a:r>
            <a:r>
              <a:rPr lang="en-US" sz="1000" dirty="0" smtClean="0">
                <a:solidFill>
                  <a:srgbClr val="FFFFFF"/>
                </a:solidFill>
              </a:rPr>
              <a:t>Adult</a:t>
            </a:r>
            <a:r>
              <a:rPr lang="en-US" sz="1000" dirty="0" smtClean="0">
                <a:solidFill>
                  <a:srgbClr val="FFFFFF"/>
                </a:solidFill>
              </a:rPr>
              <a:t> (</a:t>
            </a:r>
            <a:r>
              <a:rPr lang="en-US" sz="1000" dirty="0" smtClean="0">
                <a:solidFill>
                  <a:srgbClr val="FFFFFF"/>
                </a:solidFill>
              </a:rPr>
              <a:t>20</a:t>
            </a:r>
            <a:r>
              <a:rPr lang="en-US" sz="1000" dirty="0" smtClean="0">
                <a:solidFill>
                  <a:srgbClr val="FFFFFF"/>
                </a:solidFill>
              </a:rPr>
              <a:t>–35)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2160" y="25328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</a:rPr>
              <a:t>34%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67512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FFFFFF"/>
                </a:solidFill>
              </a:rPr>
              <a:t>Mid Age</a:t>
            </a:r>
            <a:r>
              <a:rPr lang="en-US" sz="1000" dirty="0" smtClean="0">
                <a:solidFill>
                  <a:srgbClr val="FFFFFF"/>
                </a:solidFill>
              </a:rPr>
              <a:t> </a:t>
            </a:r>
            <a:r>
              <a:rPr lang="en-US" sz="1000" dirty="0">
                <a:solidFill>
                  <a:srgbClr val="FFFFFF"/>
                </a:solidFill>
              </a:rPr>
              <a:t>(</a:t>
            </a:r>
            <a:r>
              <a:rPr lang="en-US" sz="1000" dirty="0" smtClean="0">
                <a:solidFill>
                  <a:srgbClr val="FFFFFF"/>
                </a:solidFill>
              </a:rPr>
              <a:t>36–55)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52160" y="309981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</a:rPr>
              <a:t>9</a:t>
            </a:r>
            <a:r>
              <a:rPr lang="en-US" sz="2000" b="1" dirty="0" smtClean="0">
                <a:solidFill>
                  <a:srgbClr val="14B8A6"/>
                </a:solidFill>
              </a:rPr>
              <a:t>%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675120" y="3145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FFFFFF"/>
                </a:solidFill>
              </a:rPr>
              <a:t>Teen</a:t>
            </a:r>
            <a:r>
              <a:rPr lang="en-US" sz="1000" dirty="0" smtClean="0">
                <a:solidFill>
                  <a:srgbClr val="FFFFFF"/>
                </a:solidFill>
              </a:rPr>
              <a:t>(&lt;20)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52160" y="366674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</a:rPr>
              <a:t>2</a:t>
            </a:r>
            <a:r>
              <a:rPr lang="en-US" sz="2000" b="1" dirty="0" smtClean="0">
                <a:solidFill>
                  <a:srgbClr val="14B8A6"/>
                </a:solidFill>
              </a:rPr>
              <a:t>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675120" y="3712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FFFFFF"/>
                </a:solidFill>
              </a:rPr>
              <a:t>Senior(&gt;55)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52160" y="42336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675120" y="4279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02  FACTORS INFLUENCING CONSUMPTION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Top Watched Channels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Sports content dominates — Supersport Live Events leads at 1,186 unique viewers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637021697"/>
              </p:ext>
            </p:extLst>
          </p:nvPr>
        </p:nvGraphicFramePr>
        <p:xfrm>
          <a:off x="274320" y="1417320"/>
          <a:ext cx="85953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02  FACTORS INFLUENCING CONSUMPTION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Viewership by Gender &amp; Race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Black female viewers are the largest single segment at 32% — Black male viewers follow at 28%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31342598"/>
              </p:ext>
            </p:extLst>
          </p:nvPr>
        </p:nvGraphicFramePr>
        <p:xfrm>
          <a:off x="274320" y="1090749"/>
          <a:ext cx="85953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03  LOW CONSUMPTION DAYS — MONDAY STRATEGY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Monday records the lowest viewership at 769 viewers — 38% below the weekly average (1,092).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344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307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Sports Highlights Show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5636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Air a Monday morning recap of the weekend's top sporting moments to re-engage sports fans who missed live events.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84248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84248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98424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Exclusive Movie Premiere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3134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Schedule a new movie or series premiere on Monday evenings to create a weekly must-watch event.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734056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34056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273405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🎁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2807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Monday Loyalty Rewards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063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Introduce a 'Monday Bonus' — free data, extra content, or prize draws exclusive to Monday viewers to drive urgency.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483864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83864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48386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0120" y="35570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Push Notifications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813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Send targeted push alerts Sunday evening reminding subscribers of Monday's exclusive content lineup.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233672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233672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423367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🎙️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60120" y="4306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Local &amp; Youth Content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45628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Youth is the biggest segment (54%) — air locally produced music, comedy, or lifestyle content that resonates with 18–34 age group.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04  GROWTH INITIATIVES — EXPANDING THE SUBSCRIBER BASE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2062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86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Geographic Expansion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Gauteng &amp; Western Cape account for </a:t>
            </a:r>
            <a:r>
              <a:rPr lang="en-US" sz="950" dirty="0" smtClean="0">
                <a:solidFill>
                  <a:srgbClr val="64748B"/>
                </a:solidFill>
              </a:rPr>
              <a:t>55% </a:t>
            </a:r>
            <a:r>
              <a:rPr lang="en-US" sz="950" dirty="0">
                <a:solidFill>
                  <a:srgbClr val="64748B"/>
                </a:solidFill>
              </a:rPr>
              <a:t>of viewership. Target under-served provinces — KwaZulu-Natal, Limpopo, and Mpumalanga — with affordable bundle offers and local content.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77240"/>
            <a:ext cx="42062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886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Youth-First Strategy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1887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smtClean="0">
                <a:solidFill>
                  <a:srgbClr val="64748B"/>
                </a:solidFill>
              </a:rPr>
              <a:t>55% </a:t>
            </a:r>
            <a:r>
              <a:rPr lang="en-US" sz="950" dirty="0">
                <a:solidFill>
                  <a:srgbClr val="64748B"/>
                </a:solidFill>
              </a:rPr>
              <a:t>of viewers are Youth </a:t>
            </a:r>
            <a:r>
              <a:rPr lang="en-US" sz="950" dirty="0" smtClean="0">
                <a:solidFill>
                  <a:srgbClr val="64748B"/>
                </a:solidFill>
              </a:rPr>
              <a:t>Adult(</a:t>
            </a:r>
            <a:r>
              <a:rPr lang="en-US" sz="950" dirty="0" smtClean="0">
                <a:solidFill>
                  <a:srgbClr val="64748B"/>
                </a:solidFill>
              </a:rPr>
              <a:t>20</a:t>
            </a:r>
            <a:r>
              <a:rPr lang="en-US" sz="950" dirty="0" smtClean="0">
                <a:solidFill>
                  <a:srgbClr val="64748B"/>
                </a:solidFill>
              </a:rPr>
              <a:t>–35). </a:t>
            </a:r>
            <a:r>
              <a:rPr lang="en-US" sz="950" dirty="0">
                <a:solidFill>
                  <a:srgbClr val="64748B"/>
                </a:solidFill>
              </a:rPr>
              <a:t>Invest in social media marketing, youth-focused content (music, gaming, comedy) and mobile-first viewing experiences.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221992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21992"/>
            <a:ext cx="4206240" cy="7315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</a:rPr>
              <a:t>Sports Rights &amp; Events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6334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All top </a:t>
            </a:r>
            <a:r>
              <a:rPr lang="en-US" sz="950" dirty="0" smtClean="0">
                <a:solidFill>
                  <a:srgbClr val="64748B"/>
                </a:solidFill>
              </a:rPr>
              <a:t>5 </a:t>
            </a:r>
            <a:r>
              <a:rPr lang="en-US" sz="950" dirty="0">
                <a:solidFill>
                  <a:srgbClr val="64748B"/>
                </a:solidFill>
              </a:rPr>
              <a:t>channels are </a:t>
            </a:r>
            <a:r>
              <a:rPr lang="en-US" sz="950" dirty="0" smtClean="0">
                <a:solidFill>
                  <a:srgbClr val="64748B"/>
                </a:solidFill>
              </a:rPr>
              <a:t>sports and music. </a:t>
            </a:r>
            <a:r>
              <a:rPr lang="en-US" sz="950" dirty="0">
                <a:solidFill>
                  <a:srgbClr val="64748B"/>
                </a:solidFill>
              </a:rPr>
              <a:t>Securing more live sports rights (PSL, Springboks, NBA) will be the single biggest driver of subscriber growth.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221992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221992"/>
            <a:ext cx="4206240" cy="73152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</a:rPr>
              <a:t>Female Viewer Growth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6334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Black female viewers are the top segment at 32%. Curate dedicated content blocks — drama, lifestyle, health — to deepen engagement and grow female subscriptions.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407822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68880" y="3691346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68880" y="3698748"/>
            <a:ext cx="420624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2799806" y="3877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Re-engage Low Provinces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97480" y="417880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Northern Cape, Free State, and North West have </a:t>
            </a:r>
            <a:r>
              <a:rPr lang="en-US" sz="950" dirty="0" smtClean="0">
                <a:solidFill>
                  <a:srgbClr val="64748B"/>
                </a:solidFill>
              </a:rPr>
              <a:t>&lt;200 </a:t>
            </a:r>
            <a:r>
              <a:rPr lang="en-US" sz="950" dirty="0">
                <a:solidFill>
                  <a:srgbClr val="64748B"/>
                </a:solidFill>
              </a:rPr>
              <a:t>viewers each. Launch targeted promotions with telcos for bundled data + subscription packages in these regions.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05  KEY RECOMMENDATIONS &amp; NEXT STEPS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832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Secure Sports Rights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0789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Negotiate PSL, Springboks, and cricket broadcast rights — sports drives 100% of top channels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353312"/>
            <a:ext cx="8595360" cy="13716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508760"/>
            <a:ext cx="411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5087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" y="1536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Launch Youth Content Hub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17830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Dedicate a channel/time block to music, gaming &amp; lifestyle content for the 18–34 majority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57400"/>
            <a:ext cx="8595360" cy="13716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212848"/>
            <a:ext cx="411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21284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2240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Monday Boost Campaign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2487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Run targeted push notifications + exclusive content to lift Monday's 769 average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761488"/>
            <a:ext cx="8595360" cy="13716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2916936"/>
            <a:ext cx="411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1693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" y="2944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Provincial Expansion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31912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Partner with MTN/Vodacom for data bundles targeting KZN, Limpopo &amp; Mpumalanga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465576"/>
            <a:ext cx="8595360" cy="13716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621024"/>
            <a:ext cx="411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62102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4672" y="36484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Female Viewer Programme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" y="38953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Launch a curated drama &amp; lifestyle block — Black female viewers are the single biggest segment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69664"/>
            <a:ext cx="8595360" cy="13716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4325112"/>
            <a:ext cx="411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32511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4672" y="43525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Evening Premium Scheduling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4672" y="45994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Place all flagship content 18:00–23:00 to capture peak viewership hours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</a:rPr>
              <a:t>Thank You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3200400" y="242316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</a:rPr>
              <a:t>Presented by </a:t>
            </a:r>
            <a:r>
              <a:rPr lang="en-US" sz="1500" b="1" dirty="0" err="1" smtClean="0">
                <a:solidFill>
                  <a:srgbClr val="14B8A6"/>
                </a:solidFill>
              </a:rPr>
              <a:t>Phooko</a:t>
            </a:r>
            <a:r>
              <a:rPr lang="en-US" sz="1500" b="1" dirty="0" smtClean="0">
                <a:solidFill>
                  <a:srgbClr val="14B8A6"/>
                </a:solidFill>
              </a:rPr>
              <a:t> </a:t>
            </a:r>
            <a:r>
              <a:rPr lang="en-US" sz="1500" b="1" dirty="0" err="1" smtClean="0">
                <a:solidFill>
                  <a:srgbClr val="14B8A6"/>
                </a:solidFill>
              </a:rPr>
              <a:t>Rakgetse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BrightTV  |  Customer Value Management  |  2025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694</Words>
  <Application>Microsoft Office PowerPoint</Application>
  <PresentationFormat>On-screen Show (16:9)</PresentationFormat>
  <Paragraphs>122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Viewership Insights</dc:title>
  <dc:subject>PptxGenJS Presentation</dc:subject>
  <dc:creator>PptxGenJS</dc:creator>
  <cp:lastModifiedBy>Dell</cp:lastModifiedBy>
  <cp:revision>8</cp:revision>
  <dcterms:created xsi:type="dcterms:W3CDTF">2026-04-19T04:39:09Z</dcterms:created>
  <dcterms:modified xsi:type="dcterms:W3CDTF">2026-06-10T20:33:28Z</dcterms:modified>
</cp:coreProperties>
</file>